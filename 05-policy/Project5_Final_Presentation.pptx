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0:00 - 1:00 | 1 Minute):</a:t>
            </a:r>
          </a:p>
          <a:p>
            <a:r>
              <a:t>Welcome executive leadership, CTO, and the security committee. Today, I am presenting the final capstone for SecureNova Inc.'s AI Identity Security implementation. SecureNova deployed an autonomous customer service orchestrator backed by Auth0, a RAG vector knowledge base, and Model Context Protocol (MCP) server tools. Our mission was to secure all human and non-human identities across this architecture, execute rigorous red-team testing, deploy defensive blue-team guardrails, and establish enterprise governance aligned with NIST AI RMF and OWASP LLM Top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1:00 - 4:00 | 3 Minutes):</a:t>
            </a:r>
          </a:p>
          <a:p>
            <a:r>
              <a:t>In Project 1, we established the comprehensive threat model for SecureNova. We mapped out 5 critical trust boundaries. Traditional application security only protects TB-1 (the user login). However, in an agentic architecture, TB-3 (the RAG vector store) and TB-4 (inter-agent communication) represent critical vulnerabilities. We conducted STRIDE threat modeling across every flow in OWASP Threat Dragon and scored threats using DREAD. Threat R-01—LLM key leakage—scored the maximum risk score of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4:00 - 7:00 | 3 Minutes):</a:t>
            </a:r>
          </a:p>
          <a:p>
            <a:r>
              <a:t>In Project 2, we configured enterprise IAM controls using Auth0. We decoupled user authentication from agent authorization. Using Auth0 Actions, we dynamically inject non-human identity claims directly into the RS256 JWT, establishing verifiable identity bounds. We reduced Machine-to-Machine (M2M) token TTLs to 300 seconds and activated Refresh Token Rotation. In our tests, attempting to replay an invalidated refresh token was immediately rejected with HTTP 401 Unauthorized.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7:00 - 11:00 | 4 Minutes):</a:t>
            </a:r>
          </a:p>
          <a:p>
            <a:r>
              <a:t>In Project 3, we conducted an empirical red-team assessment against the unhardened AI system. Before controls were deployed, the attack success rate was 100% across all five attack categories. Our most severe finding, SEC-ADV-02 (CVSS 9.9 Critical), demonstrated that an attacker could send an unauthenticated JSON message to Agent B, impersonating the Orchestrator, and execute a $5,000 refund transaction with zero authorization checks. We mapped every finding to MITRE ATLAS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11:00 - 14:00 | 3 Minutes):</a:t>
            </a:r>
          </a:p>
          <a:p>
            <a:r>
              <a:t>In Project 4, we engineered multi-layered blue team defenses to eliminate all 5 attack vectors. First, we deployed dual-layer guardrails. Second, we solved the agent impersonation vulnerability by introducing asymmetric cryptographic binding using Ed25519 digital signatures. Third, we implemented a real-time anomaly detection engine that flags API call volume spikes and unauthorized scope transitions. Our final verification proved a 100% reduction in attack success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14:00 - 19:00 | 5 Minutes - LIVE DEMO):</a:t>
            </a:r>
          </a:p>
          <a:p>
            <a:r>
              <a:t>I will now switch to the live terminal environment for our 5-minute technical demonstration. [Execute Step 1]: Notice how without guardrails, an injected invoice prompt causes the model to output the active Auth0 Session JWT. [Execute Step 2]: We activate our pre-LLM guardrail engine. Running the exact same prompt is immediately intercepted with BLOCKED status. [Execute Step 3]: For output protection, our regex filter catches JWT strings and redacts them in memory. [Execute Step 4 &amp; 5]: Demonstrating Ed25519 asymmetric signatures—unsigned spoofed messages fail immediately, while genuine signed RPCs pass seamlessly.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19:00 - 21:00 | 2 Minutes):</a:t>
            </a:r>
          </a:p>
          <a:p>
            <a:r>
              <a:t>We mapped every control and defense to established industry benchmarks. In NIST AI RMF 1.0, our policy covers GOVERN, our threat model covers MAP, our red-team testing covers MEASURE, and our blue-team guardrails cover MANAGE. Against the OWASP Top 10 for LLM Applications, we achieved 100% verified mitigation across the required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21:00 - 23:00 | 2 Minutes):</a:t>
            </a:r>
          </a:p>
          <a:p>
            <a:r>
              <a:t>Honest governance requires identifying residual compliance gaps. We plotted all 5 findings on our Risk Priority Matrix and identified three specific residual gaps: automated model drift monitoring, cryptographic document provenance for the vector DB, and Just-In-Time human supervisor approval for high-value tool execution. Each has an assigned owner and remediation timeframe.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23:00 - 25:00 | 2 Minutes):</a:t>
            </a:r>
          </a:p>
          <a:p>
            <a:r>
              <a:t>Here are our Top 5 strategic recommendations tailored for executive leadership and our CTO. These focus on high-impact, manageable-effort investments: cryptographic agent binding, dual-layer guardrails, ephemeral tokens, RAG document attestation, and real-time anomaly detection. Implementing these five controls hardens SecureNova against the entire spectrum of non-human identity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(Time: 25:00 | 1 Minute Conclusion):</a:t>
            </a:r>
          </a:p>
          <a:p>
            <a:r>
              <a:t>To conclude: SecureNova's AI platform has transitioned from an unhardened prototype to an enterprise-governed, Zero-Trust AI ecosystem. Every requirement of the capstone has been built, verified, and documented with real empirical artifacts. Thank you for your time, and I am now ready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93C5FD"/>
                </a:solidFill>
              </a:defRPr>
            </a:pPr>
            <a:r>
              <a:t>SECURENOVA INC. — AI IDENTITY SECURITY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Enterprise Capstone Presentation &amp; Technical Defense</a:t>
            </a:r>
          </a:p>
          <a:p>
            <a:pPr>
              <a:spcAft>
                <a:spcPts val="2800"/>
              </a:spcAft>
              <a:defRPr sz="1600" i="1">
                <a:solidFill>
                  <a:srgbClr val="E2E8F0"/>
                </a:solidFill>
              </a:defRPr>
            </a:pPr>
            <a:r>
              <a:t>Zero-Trust IAM, Adversarial Red Teaming, Cryptographic Binding &amp; NIST AI RMF Governance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Author / Role: AI Identity Security Analyst | Target System: Autonomous Customer Service Platform | Duration: 20 Mins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PROJECT 1 — THREAT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Platform Architecture &amp; Threat Landscape (STRIDE)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74320"/>
            <a:ext cx="16459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Time: 1:00 - 4:00 (3 Mins)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0366E"/>
                </a:solidFill>
              </a:defRPr>
            </a:pPr>
            <a:r>
              <a:t>Identified 5 Trust Boundaries (TB)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TB-1 (User Boundary): Web browser -&gt; Auth0 IdP / Web Gateway (OAuth 2.0 PKCE, MFA, OIDC).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TB-2 (Agent Boundary): Gateway -&gt; AI Orchestrator Agent (Auth0 Claims, Prompt Assembly).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TB-3 (RAG Retrieval): Orchestrator -&gt; Vector DB (Knowledge Ingest &amp; Embedding Query).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TB-4 (Inter-Agent RPC): Orchestrator -&gt; MCP Tool Worker (RPC Envelopes, Tool Execution).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TB-5 (Backend API): MCP Worker -&gt; Internal REST APIs / Billing (M2M OAuth Credentials).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0366E"/>
                </a:solidFill>
              </a:defRPr>
            </a:pPr>
            <a:r>
              <a:t>STRIDE &amp; DREAD Risk Prioritization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Spoofing: Unauthenticated agents forging orchestrator sender_id (Threat R-02).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Tampering: Malicious document injection altering RAG vector embeddings (Threat R-03).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Repudiation: Lack of cryptographic non-repudiation on inter-agent tool calls (Threat R-05).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Information Disclosure: Active Auth0 JWT &amp; LLM keys exfiltrated via prompts (Threat R-01).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Elevation of Privilege: Prompt injection bypassing standard scopes to Admin role (Threat R-04).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Top Risk Register: R-01 (Score 25/25) - LLM API key exfiltration via prompt injection.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PROJECT 2 — IAM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Identity &amp; Access Management Controls with Auth0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74320"/>
            <a:ext cx="16459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Time: 4:00 - 7:00 (3 Mins)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366E"/>
                </a:solidFill>
              </a:defRPr>
            </a:pPr>
            <a:r>
              <a:t>OAuth 2.0 + PKCE &amp; MFA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RFC 7636 Authorization Code Flow with PKCE.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Single Page App (SPA) architecture.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Universal Login with SecureNova branding.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Adaptive MFA / TOTP enrollment enforced.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Brute Force &amp; Suspicious IP Throttling.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366E"/>
                </a:solidFill>
              </a:defRPr>
            </a:pPr>
            <a:r>
              <a:t>Custom Identity Claims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Auth0 Post-Login Action deployed.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Dynamic claim injection into tokens: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  • https://securenova.ai/agent_id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  • trust_tier: tier_1_supervised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  • allowed_tools: [read:ai-data]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RS256 cryptographically signed JWTs.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366E"/>
                </a:solidFill>
              </a:defRPr>
            </a:pPr>
            <a:r>
              <a:t>M2M Credential Governance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Machine-to-Machine client credentials.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Short-lived tokens (TTL = 300 seconds).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Refresh Token Rotation enabled (0s grace).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Automated dual-key rotation engine.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Verified replay denial: 200 OK then 401.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PROJECT 3 — RED TEAM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Adversarial Red Team Campaign &amp; Exploit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74320"/>
            <a:ext cx="16459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Time: 7:00 - 11:00 (4 Mins)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91840"/>
                <a:gridCol w="1463040"/>
                <a:gridCol w="1463040"/>
                <a:gridCol w="3139135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Finding ID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Vulnerability Finding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CVSS 3.1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MITRE ATLAS &amp; Attack Vector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SEC-ADV-01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Indirect Prompt Injection Credential 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91C1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AML.T0051 — Injected invoice leaks Auth0 JWT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SEC-ADV-02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Inter-Agent Identity Spoofing &amp; Tool Hijack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9.9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91C1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AML.T0054 — Forged RPC executes $5,000 billing refund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SEC-ADV-03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System Prompt Extraction &amp; Role Elevation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91C1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AML.T0043 — 5 bypass tricks dump prompt and elevate to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SEC-ADV-04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RAG Chunk Poisoning to MCP Abuse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9.3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91C1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AML.T0016 — Poisoned support chunk triggers refund tool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SEC-ADV-05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Stale M2M Token Replay Attack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91C1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AML.T0024 — Intercepted unrotated token executes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PROJECT 4 — BLUE TEAM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Blue Team Defensive Architecture &amp; Hardening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74320"/>
            <a:ext cx="16459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Time: 11:00 - 14:00 (3 Mins)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366E"/>
                </a:solidFill>
              </a:defRPr>
            </a:pPr>
            <a:r>
              <a:t>1. Input/Output Guardrails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Pre-LLM heuristic keyword &amp; instruction override interception.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Post-LLM regex scanner scrubbing JWT credentials (`eyJ...`) and API keys.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Automatic sanitization to `[REDACTED]` before client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366E"/>
                </a:solidFill>
              </a:defRPr>
            </a:pPr>
            <a:r>
              <a:t>2. Cryptographic Binding (Ed25519)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Asymmetric Ed25519 key pair generation via Python cryptography.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Digital signing of all outbound inter-agent RPC envelopes.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Mandatory signature verification by receiving worker agents (Zero Trust).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366E"/>
                </a:solidFill>
              </a:defRPr>
            </a:pPr>
            <a:r>
              <a:t>3. Anomaly Detection &amp; Comparison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Real-time detection engine alerting on volume spikes (&gt;20/60s) &amp; scope jumps.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Comprehensive before/after verification: Exploit success reduced from 100% -&gt; 0.0%.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LIVE DEMONSTRATION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5-Minute Live Technical Demonstration: Attack vs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74320"/>
            <a:ext cx="16459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Time: 14:00 - 19:00 (5 Mins)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10366E"/>
                </a:solidFill>
              </a:defRPr>
            </a:pPr>
            <a:r>
              <a:t>Step-by-Step Demonstration Sequence (Live Execution)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Step 1 (0:00 - 1:00): Open terminal -&gt; Run unhardened Red Team Attack 1 (Indirect Prompt Injection). Show agent response leaking simulated Auth0 Session JWT credential (EXPLOIT SUCCESSFUL).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Step 2 (1:00 - 2:00): Enable Project 4 Blue Team Guardrail Engine -&gt; Re-run the exact same attack payload. Show input filter intercepting payload with explicit status: BLOCKED (SYSTEM_DIAGNOSTIC_OVERRIDE_FLAGGED).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Step 3 (2:00 - 3:00): Demonstrate Output Guardrail Regex -&gt; Send bypass payload where model attempts token output. Show egress filter replacing raw JWT with '[REDACTED_IDENTITY_JWT_TOKEN]'.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Step 4 (3:00 - 4:00): Execute Inter-Agent Identity Spoofing -&gt; Send unsigned forged JSON to Agent B. Show Agent B rejecting execution with error log: SIGNATURE_VERIFICATION_FAILED.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Step 5 (4:00 - 5:00): Send valid Ed25519 digitally signed orchestrator message -&gt; Show Agent B validating signature (SIGNATURE_VALID) and executing permitted action within authorized scope. Explain Zero Trust transformation.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GOVERNANCE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Compliance Frameworks: NIST AI RMF 1.0 &amp; OWASP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74320"/>
            <a:ext cx="16459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Time: 19:00 - 21:00 (2 Mins)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10366E"/>
                </a:solidFill>
              </a:defRPr>
            </a:pPr>
            <a:r>
              <a:t>NIST AI RMF 1.0 Function Mapping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GOVERN: Enterprise AI Identity Policy (SEC-POL-AI-2026-01), 90-day access certification, CISO approval matrix.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MAP: STRIDE threat model across 5 trust boundaries, attack surface analysis, DREAD risk scoring.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MEASURE: Red team vulnerability assessment, CVSS 3.1 base scoring (7.5 - 9.9), MITRE ATLAS mapping.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MANAGE: Multi-layer input/output guardrails, Ed25519 signing, Auth0 300s token TTL, Anomaly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10366E"/>
                </a:solidFill>
              </a:defRPr>
            </a:pPr>
            <a:r>
              <a:t>OWASP LLM Top 10 Coverage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LLM01 (Prompt Injection): 100% Mitigated via dual-layer input heuristics &amp; output regex scrubbing.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LLM03 (Supply Chain / RAG Poisoning): Mitigated via vector chunk quarantine &amp; similarity gating.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LLM06 (Excessive Agency): Mitigated via granular Auth0 scopes and short-lived M2M tokens (TTL 300s).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LLM07 (System Prompt Leakage): Mitigated via instruction bypass filtering &amp; context isolation.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LLM09 (Identity Spoofing): Mitigated via Ed25519 digital signatures on all inter-agent messages.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RISK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Risk Priority Matrix &amp; Residual Compliance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74320"/>
            <a:ext cx="16459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Time: 21:00 - 23:00 (2 Mins)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0366E"/>
                </a:solidFill>
              </a:defRPr>
            </a:pPr>
            <a:r>
              <a:t>Three (3) Identified Compliance Gaps &amp; Remediation Roadmap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Gap 1: Automated Semantic Output Consistency &amp; Model Drift Monitoring</a:t>
            </a:r>
            <a:br/>
            <a:r>
              <a:t>  • Obligation: NIST MEASURE 2.7 | Priority: MEDIUM | Owner: AI Platform &amp; QA | Target: Q4 2026 (60 Days)</a:t>
            </a:r>
            <a:br/>
            <a:r>
              <a:t>  • Recommendation: Deploy automated semantic evaluation harness (DeepEval) running daily synthetic prompt suites.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Gap 2: Decentralized Vector Database Cryptographic Document Provenance</a:t>
            </a:r>
            <a:br/>
            <a:r>
              <a:t>  • Obligation: NIST MANAGE 2.2 / OWASP LLM03 | Priority: HIGH | Owner: Knowledge Engineering | Target: Q1 2027 (90 Days)</a:t>
            </a:r>
            <a:br/>
            <a:r>
              <a:t>  • Recommendation: Implement KMS-backed digital signatures on all ingested knowledge articles before chunking.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Gap 3: Automated Just-In-Time (JIT) Dynamic Tool Privilege Escalation Approval</a:t>
            </a:r>
            <a:br/>
            <a:r>
              <a:t>  • Obligation: NIST GOVERN 1.2 / OWASP LLM06 | Priority: HIGH | Owner: IAM &amp; Customer Ops | Target: Q4 2026 (45 Days)</a:t>
            </a:r>
            <a:br/>
            <a:r>
              <a:t>  • Recommendation: Integrate interactive Slack/Teams supervisor approval webhook for refunds exceeding $500.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Top 5 Strategic Recommendations for Executive Leadership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74320"/>
            <a:ext cx="16459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Time: 23:00 - 25:00 (2 Mins)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3504895"/>
                <a:gridCol w="1280160"/>
                <a:gridCol w="128016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Strategic Recommendation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Security Benefit &amp; Technical Control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Visible Business Rationale (Executive / ROI / Risk)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10366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366E"/>
                          </a:solidFill>
                        </a:defRPr>
                      </a:pPr>
                      <a:r>
                        <a:t>1. Asymmetric Cryptographic Agent Binding (Ed25519)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Mandate Ed25519 digital signatures on all inter-agent &amp; MCP calls. Eliminates agent spoofing &amp; tool hijack.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Protects against fraudulent financial transactions ($5,000+ refunds) and eliminates catastrophic loss of customer trust from spoofed actions.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B91C1C"/>
                          </a:solidFill>
                        </a:defRPr>
                      </a:pPr>
                      <a:r>
                        <a:t>HIGH (P0)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366E"/>
                          </a:solidFill>
                        </a:defRPr>
                      </a:pPr>
                      <a:r>
                        <a:t>2. Dual-Layer AI Guardrails with Regex Scrubbing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Deploy pre-LLM heuristic injection filters and post-LLM JWT/API key egress scrubbing ([REDACTED]).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Prevents severe regulatory penalties (GDPR/CCPA up to €20M / 4% global turnover) and brand damage from secret credential leakage in customer chat.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B91C1C"/>
                          </a:solidFill>
                        </a:defRPr>
                      </a:pPr>
                      <a:r>
                        <a:t>HIGH (P0)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366E"/>
                          </a:solidFill>
                        </a:defRPr>
                      </a:pPr>
                      <a:r>
                        <a:t>3. Ephemeral M2M Tokens (300s TTL) &amp; 90-Day Rotation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Reduce M2M token lifespan to 5 mins and automate 90-day secrets rotation with 0s refresh reuse grace.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Ensures full compliance with SOC 2 / ISO 27001 audits and drastically reduces the financial impact of compromised developer/service credentials.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2410C"/>
                          </a:solidFill>
                        </a:defRPr>
                      </a:pPr>
                      <a:r>
                        <a:t>HIGH (P1)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366E"/>
                          </a:solidFill>
                        </a:defRPr>
                      </a:pPr>
                      <a:r>
                        <a:t>4. Immutable RAG Attestation &amp; Step-Up Auth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Enforce similarity gating, document hash verification, and human supervisor sign-off for financial APIs.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Prevents automated financial drain from poisoned knowledge stores and maintains human supervisor governance over high-value actions.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A8A04"/>
                          </a:solidFill>
                        </a:defRPr>
                      </a:pPr>
                      <a:r>
                        <a:t>MED (P2)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4 Weeks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366E"/>
                          </a:solidFill>
                        </a:defRPr>
                      </a:pPr>
                      <a:r>
                        <a:t>5. Real-Time Identity Telemetry &amp; Auto-Quarantine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Centralize SIEM detection for call spikes (&gt;20/60s) and execute automated agent isolation within &lt;= 60s.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Reduces Incident Mean-Time-To-Contain (MTTC) from hours to under 60 seconds, minimizing operational disruption and breach remediation costs.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A8A04"/>
                          </a:solidFill>
                        </a:defRPr>
                      </a:pPr>
                      <a:r>
                        <a:t>MED (P2)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66E"/>
          </a:solidFill>
          <a:ln>
            <a:solidFill>
              <a:srgbClr val="103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93C5FD"/>
                </a:solidFill>
              </a:defRPr>
            </a:pPr>
            <a:r>
              <a:t>CONCLUSION &amp; NEXT STEPS</a:t>
            </a:r>
          </a:p>
          <a:p>
            <a:pPr>
              <a:spcAft>
                <a:spcPts val="1600"/>
              </a:spcAft>
              <a:defRPr sz="3000" b="1">
                <a:solidFill>
                  <a:srgbClr val="FFFFFF"/>
                </a:solidFill>
              </a:defRPr>
            </a:pPr>
            <a:r>
              <a:t>SecureNova AI Platform: Production-Ready &amp; Formally Governed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Capstone Deliverables: Complete Policy (.docx), Compliance Mapping (.xlsx), Risk Matrix (.png), 20-Min Presentation (.pptx).</a:t>
            </a:r>
            <a:br/>
            <a:r>
              <a:t>• Operational Posture: 100% Defense Verification across all 5 Red Team attacks.</a:t>
            </a:r>
            <a:br/>
            <a:r>
              <a:t>• Standards Compliance: Fully mapped to NIST AI RMF 1.0 &amp; OWASP Top 10 for LLM Applications (2025).</a:t>
            </a:r>
            <a:br/>
            <a:br/>
            <a:r>
              <a:t>Thank you. We now open the floor for Executive Committee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